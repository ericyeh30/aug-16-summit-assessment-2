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professor and classmates. We are Group 6. Today we are presenting our Literature Review on the effectiveness of Generative AI in creating personalized video and audio content. In this 7.5-minute presentation, each of us will present for about 2.5 minutes, covering the core aspects of our research: research questions, search methodology, key themes (quality, efficiency, and ethics), research gaps, and our proposed collaborative model. Let's start with the background and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the true effectiveness of generative AI, we established three core research questions. First, RQ1 focuses on quality and personalization, checking if GenAI-created audio and video are realistic, relevant, and creative. Second, RQ2 evaluates efficiency, checking if GenAI actually saves time and scales up creation, or if the human verification phase acts as a bottleneck. Third, RQ3 investigates the severe ethical challenges such as deepfakes, copyright issues of training data, voice cloning privacy, and dataset biases.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search process was strict. We filtered academic literature from 2020 to 2026 using databases and keywords like voice cloning, deepfake, and text-to-video. This resulted in 10 core papers. As seen in our matrix, these studies capture the progression from pure technology development (like Singer's Make-A-Video and Le's Voicebox) to business impact (Amankwah-Amoah) and social ethics (Barnett and Hagendorff). Now, I will pass the microphone to Liu to present our thematic findings.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quality and personalization (RQ1), the technical progress is clear. For video, models like VideoPoet achieve high visual fidelity. However, the limitation is temporal consistency—backgrounds morph and objects defy physical laws. For audio, Voicebox clones voices beautifully, but it lacks genuine emotional context and fine-grained vocal control. Crucially, our lit review shows that technical metrics like FID are insufficient; we must combine them with human-centered metrics to measure true relevance and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production efficiency (RQ2). It's true that GenAI speeds up the initial creation. However, our literature review emphasizes that we cannot equate 'generation speed' with 'total workflow efficiency'. While traditional creation is linear and resource-heavy, GenAI workflows introduce a new critical phase: human editing, fact-checking, and ethical and copyright approvals. If your AI-generated content violates copyrights or contains hallucinations, the time spent fixing it eats up the initial time saved. Therefore, human oversight is the true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is the most challenging front of GenAI (RQ3). We categorize the lit review findings into 4 key categories. First, Deepfakes undermine trust, facilitating fraud. Second, Copyright remains unsolved because models train on artists' content without explicit consent. Third, Privacy in voice cloning makes voice fraud easy. Fourth, Bias in dataset-based generation can propagate stereotypes in customized marketing or education. This is why international frameworks like the EU AI Act now mandate watermark labels and human-in-the-loop oversight.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looking at the research gaps. Our most critical finding is the massive imbalance between technical development and ethical risk analysis. As Barnett (2023) discovered, out of 884 academic papers on generative audio, less than 10% discussed negative impacts or mitigation. We also found a gap in testing; models are tested in labs, not inside real, messy business workflows. Finally, ethical guidelines exist, but we lack empirical, practical testing of governance tools like voice consent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generative AI is a powerful assistant, but the literature shows that the absolute best path is 'Human-AI Collaboration' rather than total replacement of human labor. AI excel at rapid production scale and lowering technical costs, while humans provide critical contextual judgment, emotional depth, brand control, and ethical governance. We advocate for a balanced, practical framework that integrates these strengths. Thank you, and we are now open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731520"/>
          </a:xfrm>
          <a:prstGeom prst="rect">
            <a:avLst/>
          </a:prstGeom>
          <a:noFill/>
        </p:spPr>
        <p:txBody>
          <a:bodyPr wrap="square" lIns="137160" rIns="137160" tIns="137160" bIns="137160">
            <a:normAutofit/>
          </a:bodyPr>
          <a:lstStyle/>
          <a:p>
            <a:r>
              <a:rPr sz="1300" b="1" i="0">
                <a:solidFill>
                  <a:srgbClr val="EA580C"/>
                </a:solidFill>
                <a:latin typeface="Arial"/>
              </a:rPr>
              <a:t>MIT653 RESEARCH METHODS | ASSESSMENT 2-2: LITERATURE REVIEW PRESENTATION</a:t>
            </a:r>
          </a:p>
        </p:txBody>
      </p:sp>
      <p:sp>
        <p:nvSpPr>
          <p:cNvPr id="4" name="TextBox 3"/>
          <p:cNvSpPr txBox="1"/>
          <p:nvPr/>
        </p:nvSpPr>
        <p:spPr>
          <a:xfrm>
            <a:off x="914400" y="2011680"/>
            <a:ext cx="10332720" cy="2011680"/>
          </a:xfrm>
          <a:prstGeom prst="rect">
            <a:avLst/>
          </a:prstGeom>
          <a:noFill/>
        </p:spPr>
        <p:txBody>
          <a:bodyPr wrap="square" lIns="137160" rIns="137160" tIns="137160" bIns="137160">
            <a:normAutofit/>
          </a:bodyPr>
          <a:lstStyle/>
          <a:p>
            <a:pPr>
              <a:spcAft>
                <a:spcPts val="400"/>
              </a:spcAft>
            </a:pPr>
            <a:r>
              <a:rPr sz="3600" b="1" i="0">
                <a:solidFill>
                  <a:srgbClr val="FFFFFF"/>
                </a:solidFill>
                <a:latin typeface="Georgia"/>
              </a:rPr>
              <a:t>The Effectiveness of Generative AI in</a:t>
            </a:r>
          </a:p>
          <a:p>
            <a:r>
              <a:rPr sz="3600" b="1" i="0">
                <a:solidFill>
                  <a:srgbClr val="FFFFFF"/>
                </a:solidFill>
                <a:latin typeface="Georgia"/>
              </a:rPr>
              <a:t>Creating Personalised Video and Audio Content</a:t>
            </a:r>
          </a:p>
        </p:txBody>
      </p:sp>
      <p:sp>
        <p:nvSpPr>
          <p:cNvPr id="5" name="TextBox 4"/>
          <p:cNvSpPr txBox="1"/>
          <p:nvPr/>
        </p:nvSpPr>
        <p:spPr>
          <a:xfrm>
            <a:off x="914400" y="4297680"/>
            <a:ext cx="10332720" cy="1371600"/>
          </a:xfrm>
          <a:prstGeom prst="rect">
            <a:avLst/>
          </a:prstGeom>
          <a:noFill/>
        </p:spPr>
        <p:txBody>
          <a:bodyPr wrap="square" lIns="137160" rIns="137160" tIns="137160" bIns="137160">
            <a:normAutofit/>
          </a:bodyPr>
          <a:lstStyle/>
          <a:p>
            <a:pPr>
              <a:spcAft>
                <a:spcPts val="1000"/>
              </a:spcAft>
            </a:pPr>
            <a:r>
              <a:rPr sz="1200" b="1" i="0">
                <a:solidFill>
                  <a:srgbClr val="64748B"/>
                </a:solidFill>
                <a:latin typeface="Arial"/>
              </a:rPr>
              <a:t>Group 6  •  Trimester 2, 2026  •  Presentation Date: August 20, 2026</a:t>
            </a:r>
          </a:p>
          <a:p>
            <a:r>
              <a:rPr sz="1300" b="1" i="0">
                <a:solidFill>
                  <a:srgbClr val="FFFFFF"/>
                </a:solidFill>
                <a:latin typeface="Arial"/>
              </a:rPr>
              <a:t>CHING-YUAN YEH (S20250030)   |   Chen hao LIU (20220077)   |   Zeqiu LU (S20250001)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Three core research questions evaluate quality, efficiency, and ethics of GenAI</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CHING-YUAN YEH</a:t>
            </a:r>
          </a:p>
        </p:txBody>
      </p:sp>
      <p:sp>
        <p:nvSpPr>
          <p:cNvPr id="5" name="Rounded Rectangle 4"/>
          <p:cNvSpPr/>
          <p:nvPr/>
        </p:nvSpPr>
        <p:spPr>
          <a:xfrm>
            <a:off x="685800" y="1645920"/>
            <a:ext cx="3291840" cy="3840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1200"/>
              </a:spcAft>
            </a:pPr>
            <a:r>
              <a:rPr sz="1600" b="1">
                <a:solidFill>
                  <a:srgbClr val="EA580C"/>
                </a:solidFill>
                <a:latin typeface="Georgia"/>
              </a:rPr>
              <a:t>RQ1: QUALITY</a:t>
            </a:r>
          </a:p>
          <a:p>
            <a:pPr algn="l">
              <a:spcBef>
                <a:spcPts val="0"/>
              </a:spcBef>
              <a:spcAft>
                <a:spcPts val="1400"/>
              </a:spcAft>
            </a:pPr>
            <a:r>
              <a:rPr sz="1250" b="0" i="0">
                <a:solidFill>
                  <a:srgbClr val="0F172A"/>
                </a:solidFill>
                <a:latin typeface="Arial"/>
              </a:rPr>
              <a:t>What effects does generative AI have on the relevance, quality, realism, and inventiveness of customized audio and video content?</a:t>
            </a:r>
          </a:p>
          <a:p>
            <a:pPr algn="l">
              <a:spcBef>
                <a:spcPts val="0"/>
              </a:spcBef>
              <a:spcAft>
                <a:spcPts val="400"/>
              </a:spcAft>
            </a:pPr>
            <a:r>
              <a:rPr sz="1100" b="1" i="0">
                <a:solidFill>
                  <a:srgbClr val="64748B"/>
                </a:solidFill>
                <a:latin typeface="Arial"/>
              </a:rPr>
              <a:t>Focus Areas:</a:t>
            </a:r>
          </a:p>
          <a:p>
            <a:pPr algn="l">
              <a:spcBef>
                <a:spcPts val="0"/>
              </a:spcBef>
              <a:spcAft>
                <a:spcPts val="200"/>
              </a:spcAft>
            </a:pPr>
            <a:r>
              <a:rPr sz="1100" b="0" i="0">
                <a:solidFill>
                  <a:srgbClr val="64748B"/>
                </a:solidFill>
                <a:latin typeface="Arial"/>
              </a:rPr>
              <a:t>• Visual fidelity and semantic alignment</a:t>
            </a:r>
          </a:p>
          <a:p>
            <a:pPr algn="l">
              <a:spcBef>
                <a:spcPts val="0"/>
              </a:spcBef>
              <a:spcAft>
                <a:spcPts val="200"/>
              </a:spcAft>
            </a:pPr>
            <a:r>
              <a:rPr sz="1100" b="0" i="0">
                <a:solidFill>
                  <a:srgbClr val="64748B"/>
                </a:solidFill>
                <a:latin typeface="Arial"/>
              </a:rPr>
              <a:t>• Temporal/physical consistency</a:t>
            </a:r>
          </a:p>
          <a:p>
            <a:pPr algn="l">
              <a:spcBef>
                <a:spcPts val="0"/>
              </a:spcBef>
              <a:spcAft>
                <a:spcPts val="200"/>
              </a:spcAft>
            </a:pPr>
            <a:r>
              <a:rPr sz="1100" b="0" i="0">
                <a:solidFill>
                  <a:srgbClr val="64748B"/>
                </a:solidFill>
                <a:latin typeface="Arial"/>
              </a:rPr>
              <a:t>• Voice and audio naturalness</a:t>
            </a:r>
          </a:p>
        </p:txBody>
      </p:sp>
      <p:sp>
        <p:nvSpPr>
          <p:cNvPr id="6" name="Rounded Rectangle 5"/>
          <p:cNvSpPr/>
          <p:nvPr/>
        </p:nvSpPr>
        <p:spPr>
          <a:xfrm>
            <a:off x="4343400" y="1645920"/>
            <a:ext cx="3291840" cy="3840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1200"/>
              </a:spcAft>
            </a:pPr>
            <a:r>
              <a:rPr sz="1600" b="1">
                <a:solidFill>
                  <a:srgbClr val="EA580C"/>
                </a:solidFill>
                <a:latin typeface="Georgia"/>
              </a:rPr>
              <a:t>RQ2: EFFICIENCY</a:t>
            </a:r>
          </a:p>
          <a:p>
            <a:pPr algn="l">
              <a:spcBef>
                <a:spcPts val="0"/>
              </a:spcBef>
              <a:spcAft>
                <a:spcPts val="1400"/>
              </a:spcAft>
            </a:pPr>
            <a:r>
              <a:rPr sz="1250" b="0" i="0">
                <a:solidFill>
                  <a:srgbClr val="0F172A"/>
                </a:solidFill>
                <a:latin typeface="Arial"/>
              </a:rPr>
              <a:t>How can generative AI enhance digital content production's scalability, accessibility, and efficiency?</a:t>
            </a:r>
          </a:p>
          <a:p>
            <a:pPr algn="l">
              <a:spcBef>
                <a:spcPts val="0"/>
              </a:spcBef>
              <a:spcAft>
                <a:spcPts val="400"/>
              </a:spcAft>
            </a:pPr>
            <a:r>
              <a:rPr sz="1100" b="1" i="0">
                <a:solidFill>
                  <a:srgbClr val="64748B"/>
                </a:solidFill>
                <a:latin typeface="Arial"/>
              </a:rPr>
              <a:t>Focus Areas:</a:t>
            </a:r>
          </a:p>
          <a:p>
            <a:pPr algn="l">
              <a:spcBef>
                <a:spcPts val="0"/>
              </a:spcBef>
              <a:spcAft>
                <a:spcPts val="200"/>
              </a:spcAft>
            </a:pPr>
            <a:r>
              <a:rPr sz="1100" b="0" i="0">
                <a:solidFill>
                  <a:srgbClr val="64748B"/>
                </a:solidFill>
                <a:latin typeface="Arial"/>
              </a:rPr>
              <a:t>• Automating production steps</a:t>
            </a:r>
          </a:p>
          <a:p>
            <a:pPr algn="l">
              <a:spcBef>
                <a:spcPts val="0"/>
              </a:spcBef>
              <a:spcAft>
                <a:spcPts val="200"/>
              </a:spcAft>
            </a:pPr>
            <a:r>
              <a:rPr sz="1100" b="0" i="0">
                <a:solidFill>
                  <a:srgbClr val="64748B"/>
                </a:solidFill>
                <a:latin typeface="Arial"/>
              </a:rPr>
              <a:t>• Cost-effective scalability</a:t>
            </a:r>
          </a:p>
          <a:p>
            <a:pPr algn="l">
              <a:spcBef>
                <a:spcPts val="0"/>
              </a:spcBef>
              <a:spcAft>
                <a:spcPts val="200"/>
              </a:spcAft>
            </a:pPr>
            <a:r>
              <a:rPr sz="1100" b="0" i="0">
                <a:solidFill>
                  <a:srgbClr val="64748B"/>
                </a:solidFill>
                <a:latin typeface="Arial"/>
              </a:rPr>
              <a:t>• True efficiency gains vs. review bottleneck</a:t>
            </a:r>
          </a:p>
        </p:txBody>
      </p:sp>
      <p:sp>
        <p:nvSpPr>
          <p:cNvPr id="7" name="Rounded Rectangle 6"/>
          <p:cNvSpPr/>
          <p:nvPr/>
        </p:nvSpPr>
        <p:spPr>
          <a:xfrm>
            <a:off x="8001000" y="1645920"/>
            <a:ext cx="3291840" cy="38404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1200"/>
              </a:spcAft>
            </a:pPr>
            <a:r>
              <a:rPr sz="1600" b="1">
                <a:solidFill>
                  <a:srgbClr val="EA580C"/>
                </a:solidFill>
                <a:latin typeface="Georgia"/>
              </a:rPr>
              <a:t>RQ3: ETHICS</a:t>
            </a:r>
          </a:p>
          <a:p>
            <a:pPr algn="l">
              <a:spcBef>
                <a:spcPts val="0"/>
              </a:spcBef>
              <a:spcAft>
                <a:spcPts val="1400"/>
              </a:spcAft>
            </a:pPr>
            <a:r>
              <a:rPr sz="1250" b="0" i="0">
                <a:solidFill>
                  <a:srgbClr val="0F172A"/>
                </a:solidFill>
                <a:latin typeface="Arial"/>
              </a:rPr>
              <a:t>What ethical issues are raised by AI-generated audio and video in terms of authenticity, copyright, privacy, and bias?</a:t>
            </a:r>
          </a:p>
          <a:p>
            <a:pPr algn="l">
              <a:spcBef>
                <a:spcPts val="0"/>
              </a:spcBef>
              <a:spcAft>
                <a:spcPts val="400"/>
              </a:spcAft>
            </a:pPr>
            <a:r>
              <a:rPr sz="1100" b="1" i="0">
                <a:solidFill>
                  <a:srgbClr val="64748B"/>
                </a:solidFill>
                <a:latin typeface="Arial"/>
              </a:rPr>
              <a:t>Focus Areas:</a:t>
            </a:r>
          </a:p>
          <a:p>
            <a:pPr algn="l">
              <a:spcBef>
                <a:spcPts val="0"/>
              </a:spcBef>
              <a:spcAft>
                <a:spcPts val="200"/>
              </a:spcAft>
            </a:pPr>
            <a:r>
              <a:rPr sz="1100" b="0" i="0">
                <a:solidFill>
                  <a:srgbClr val="64748B"/>
                </a:solidFill>
                <a:latin typeface="Arial"/>
              </a:rPr>
              <a:t>• Deepfakes and authenticity</a:t>
            </a:r>
          </a:p>
          <a:p>
            <a:pPr algn="l">
              <a:spcBef>
                <a:spcPts val="0"/>
              </a:spcBef>
              <a:spcAft>
                <a:spcPts val="200"/>
              </a:spcAft>
            </a:pPr>
            <a:r>
              <a:rPr sz="1100" b="0" i="0">
                <a:solidFill>
                  <a:srgbClr val="64748B"/>
                </a:solidFill>
                <a:latin typeface="Arial"/>
              </a:rPr>
              <a:t>• IP and training data copyright</a:t>
            </a:r>
          </a:p>
          <a:p>
            <a:pPr algn="l">
              <a:spcBef>
                <a:spcPts val="0"/>
              </a:spcBef>
              <a:spcAft>
                <a:spcPts val="200"/>
              </a:spcAft>
            </a:pPr>
            <a:r>
              <a:rPr sz="1100" b="0" i="0">
                <a:solidFill>
                  <a:srgbClr val="64748B"/>
                </a:solidFill>
                <a:latin typeface="Arial"/>
              </a:rPr>
              <a:t>• Voice privacy, cloning, and social bias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Ten high-impact studies from 2020–2026 form our literature review matrix</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CHING-YUAN YEH</a:t>
            </a:r>
          </a:p>
        </p:txBody>
      </p:sp>
      <p:sp>
        <p:nvSpPr>
          <p:cNvPr id="5" name="TextBox 4"/>
          <p:cNvSpPr txBox="1"/>
          <p:nvPr/>
        </p:nvSpPr>
        <p:spPr>
          <a:xfrm>
            <a:off x="685800" y="1645920"/>
            <a:ext cx="4114800" cy="4114800"/>
          </a:xfrm>
          <a:prstGeom prst="rect">
            <a:avLst/>
          </a:prstGeom>
          <a:noFill/>
        </p:spPr>
        <p:txBody>
          <a:bodyPr wrap="square" lIns="137160" rIns="137160" tIns="137160" bIns="137160">
            <a:normAutofit/>
          </a:bodyPr>
          <a:lstStyle/>
          <a:p>
            <a:pPr>
              <a:spcBef>
                <a:spcPts val="0"/>
              </a:spcBef>
              <a:spcAft>
                <a:spcPts val="1000"/>
              </a:spcAft>
            </a:pPr>
            <a:r>
              <a:rPr sz="1800" b="1">
                <a:solidFill>
                  <a:srgbClr val="EA580C"/>
                </a:solidFill>
                <a:latin typeface="Georgia"/>
              </a:rPr>
              <a:t>Rigorous Search Methodology</a:t>
            </a:r>
          </a:p>
          <a:p>
            <a:pPr algn="l">
              <a:spcBef>
                <a:spcPts val="0"/>
              </a:spcBef>
              <a:spcAft>
                <a:spcPts val="400"/>
              </a:spcAft>
            </a:pPr>
            <a:r>
              <a:rPr sz="1200" b="0" i="0">
                <a:solidFill>
                  <a:srgbClr val="0F172A"/>
                </a:solidFill>
                <a:latin typeface="Arial"/>
              </a:rPr>
              <a:t>• Time Frame: 2020 - 2026 (rapid tech leaps)</a:t>
            </a:r>
          </a:p>
          <a:p>
            <a:pPr algn="l">
              <a:spcBef>
                <a:spcPts val="0"/>
              </a:spcBef>
              <a:spcAft>
                <a:spcPts val="400"/>
              </a:spcAft>
            </a:pPr>
            <a:r>
              <a:rPr sz="1200" b="0" i="0">
                <a:solidFill>
                  <a:srgbClr val="0F172A"/>
                </a:solidFill>
                <a:latin typeface="Arial"/>
              </a:rPr>
              <a:t>• Source Types: Peer-reviewed journals &amp; conference papers</a:t>
            </a:r>
          </a:p>
          <a:p>
            <a:pPr algn="l">
              <a:spcBef>
                <a:spcPts val="0"/>
              </a:spcBef>
              <a:spcAft>
                <a:spcPts val="200"/>
              </a:spcAft>
            </a:pPr>
            <a:r>
              <a:rPr sz="1200" b="1" i="0">
                <a:solidFill>
                  <a:srgbClr val="0F172A"/>
                </a:solidFill>
                <a:latin typeface="Arial"/>
              </a:rPr>
              <a:t>• Keywords Used:</a:t>
            </a:r>
          </a:p>
          <a:p>
            <a:pPr algn="l">
              <a:spcBef>
                <a:spcPts val="0"/>
              </a:spcBef>
              <a:spcAft>
                <a:spcPts val="200"/>
              </a:spcAft>
            </a:pPr>
            <a:r>
              <a:rPr sz="1100" b="0" i="0">
                <a:solidFill>
                  <a:srgbClr val="64748B"/>
                </a:solidFill>
                <a:latin typeface="Arial"/>
              </a:rPr>
              <a:t>   - Generative AI, Text-to-Video, Video Synthesis</a:t>
            </a:r>
          </a:p>
          <a:p>
            <a:pPr algn="l">
              <a:spcBef>
                <a:spcPts val="0"/>
              </a:spcBef>
              <a:spcAft>
                <a:spcPts val="200"/>
              </a:spcAft>
            </a:pPr>
            <a:r>
              <a:rPr sz="1100" b="0" i="0">
                <a:solidFill>
                  <a:srgbClr val="64748B"/>
                </a:solidFill>
                <a:latin typeface="Arial"/>
              </a:rPr>
              <a:t>   - Voice Cloning, Generative Audio, Speech Synthesis</a:t>
            </a:r>
          </a:p>
          <a:p>
            <a:pPr algn="l">
              <a:spcBef>
                <a:spcPts val="0"/>
              </a:spcBef>
              <a:spcAft>
                <a:spcPts val="1000"/>
              </a:spcAft>
            </a:pPr>
            <a:r>
              <a:rPr sz="1100" b="0" i="0">
                <a:solidFill>
                  <a:srgbClr val="64748B"/>
                </a:solidFill>
                <a:latin typeface="Arial"/>
              </a:rPr>
              <a:t>   - Deepfake, AI Ethics, Copyright, Personalisation</a:t>
            </a:r>
          </a:p>
          <a:p>
            <a:pPr algn="l">
              <a:spcBef>
                <a:spcPts val="0"/>
              </a:spcBef>
              <a:spcAft>
                <a:spcPts val="400"/>
              </a:spcAft>
            </a:pPr>
            <a:r>
              <a:rPr sz="1150" b="0" i="1">
                <a:solidFill>
                  <a:srgbClr val="0F172A"/>
                </a:solidFill>
                <a:latin typeface="Arial"/>
              </a:rPr>
              <a:t>Selected 10 landmark papers for thematic mapping to balance technical models and ethical governance.</a:t>
            </a:r>
          </a:p>
        </p:txBody>
      </p:sp>
      <p:graphicFrame>
        <p:nvGraphicFramePr>
          <p:cNvPr id="6" name="Table 5"/>
          <p:cNvGraphicFramePr>
            <a:graphicFrameLocks noGrp="1"/>
          </p:cNvGraphicFramePr>
          <p:nvPr/>
        </p:nvGraphicFramePr>
        <p:xfrm>
          <a:off x="5120640" y="1645920"/>
          <a:ext cx="6400800" cy="4114800"/>
        </p:xfrm>
        <a:graphic>
          <a:graphicData uri="http://schemas.openxmlformats.org/drawingml/2006/table">
            <a:tbl>
              <a:tblPr firstRow="1" bandRow="1">
                <a:tableStyleId>{5C22544A-7EE6-4342-B048-85BDC9FD1C3A}</a:tableStyleId>
              </a:tblPr>
              <a:tblGrid>
                <a:gridCol w="1463040"/>
                <a:gridCol w="1280160"/>
                <a:gridCol w="2194560"/>
                <a:gridCol w="1463040"/>
              </a:tblGrid>
              <a:tr h="685800">
                <a:tc>
                  <a:txBody>
                    <a:bodyPr/>
                    <a:lstStyle/>
                    <a:p>
                      <a:r>
                        <a:rPr sz="1100" b="1" i="0">
                          <a:solidFill>
                            <a:srgbClr val="FFFFFF"/>
                          </a:solidFill>
                          <a:latin typeface="Arial"/>
                        </a:rPr>
                        <a:t>Study (Year)</a:t>
                      </a:r>
                    </a:p>
                  </a:txBody>
                  <a:tcPr>
                    <a:solidFill>
                      <a:srgbClr val="0F172A"/>
                    </a:solidFill>
                  </a:tcPr>
                </a:tc>
                <a:tc>
                  <a:txBody>
                    <a:bodyPr/>
                    <a:lstStyle/>
                    <a:p>
                      <a:r>
                        <a:rPr sz="1100" b="1" i="0">
                          <a:solidFill>
                            <a:srgbClr val="FFFFFF"/>
                          </a:solidFill>
                          <a:latin typeface="Arial"/>
                        </a:rPr>
                        <a:t>Focus Domain</a:t>
                      </a:r>
                    </a:p>
                  </a:txBody>
                  <a:tcPr>
                    <a:solidFill>
                      <a:srgbClr val="0F172A"/>
                    </a:solidFill>
                  </a:tcPr>
                </a:tc>
                <a:tc>
                  <a:txBody>
                    <a:bodyPr/>
                    <a:lstStyle/>
                    <a:p>
                      <a:r>
                        <a:rPr sz="1100" b="1" i="0">
                          <a:solidFill>
                            <a:srgbClr val="FFFFFF"/>
                          </a:solidFill>
                          <a:latin typeface="Arial"/>
                        </a:rPr>
                        <a:t>Key Finding</a:t>
                      </a:r>
                    </a:p>
                  </a:txBody>
                  <a:tcPr>
                    <a:solidFill>
                      <a:srgbClr val="0F172A"/>
                    </a:solidFill>
                  </a:tcPr>
                </a:tc>
                <a:tc>
                  <a:txBody>
                    <a:bodyPr/>
                    <a:lstStyle/>
                    <a:p>
                      <a:r>
                        <a:rPr sz="1100" b="1" i="0">
                          <a:solidFill>
                            <a:srgbClr val="FFFFFF"/>
                          </a:solidFill>
                          <a:latin typeface="Arial"/>
                        </a:rPr>
                        <a:t>Relevance</a:t>
                      </a:r>
                    </a:p>
                  </a:txBody>
                  <a:tcPr>
                    <a:solidFill>
                      <a:srgbClr val="0F172A"/>
                    </a:solidFill>
                  </a:tcPr>
                </a:tc>
              </a:tr>
              <a:tr h="685800">
                <a:tc>
                  <a:txBody>
                    <a:bodyPr/>
                    <a:lstStyle/>
                    <a:p>
                      <a:r>
                        <a:rPr sz="1000" b="0" i="0">
                          <a:solidFill>
                            <a:srgbClr val="0F172A"/>
                          </a:solidFill>
                          <a:latin typeface="Arial"/>
                        </a:rPr>
                        <a:t>Singer et al. (2022)</a:t>
                      </a:r>
                    </a:p>
                  </a:txBody>
                  <a:tcPr>
                    <a:solidFill>
                      <a:srgbClr val="F1F5F9"/>
                    </a:solidFill>
                  </a:tcPr>
                </a:tc>
                <a:tc>
                  <a:txBody>
                    <a:bodyPr/>
                    <a:lstStyle/>
                    <a:p>
                      <a:r>
                        <a:rPr sz="1000" b="0" i="0">
                          <a:solidFill>
                            <a:srgbClr val="0F172A"/>
                          </a:solidFill>
                          <a:latin typeface="Arial"/>
                        </a:rPr>
                        <a:t>Video Synthesis</a:t>
                      </a:r>
                    </a:p>
                  </a:txBody>
                  <a:tcPr>
                    <a:solidFill>
                      <a:srgbClr val="F1F5F9"/>
                    </a:solidFill>
                  </a:tcPr>
                </a:tc>
                <a:tc>
                  <a:txBody>
                    <a:bodyPr/>
                    <a:lstStyle/>
                    <a:p>
                      <a:r>
                        <a:rPr sz="1000" b="0" i="0">
                          <a:solidFill>
                            <a:srgbClr val="0F172A"/>
                          </a:solidFill>
                          <a:latin typeface="Arial"/>
                        </a:rPr>
                        <a:t>Make-A-Video text-to-video capabilities</a:t>
                      </a:r>
                    </a:p>
                  </a:txBody>
                  <a:tcPr>
                    <a:solidFill>
                      <a:srgbClr val="F1F5F9"/>
                    </a:solidFill>
                  </a:tcPr>
                </a:tc>
                <a:tc>
                  <a:txBody>
                    <a:bodyPr/>
                    <a:lstStyle/>
                    <a:p>
                      <a:r>
                        <a:rPr sz="1000" b="0" i="0">
                          <a:solidFill>
                            <a:srgbClr val="0F172A"/>
                          </a:solidFill>
                          <a:latin typeface="Arial"/>
                        </a:rPr>
                        <a:t>Video Quality</a:t>
                      </a:r>
                    </a:p>
                  </a:txBody>
                  <a:tcPr>
                    <a:solidFill>
                      <a:srgbClr val="F1F5F9"/>
                    </a:solidFill>
                  </a:tcPr>
                </a:tc>
              </a:tr>
              <a:tr h="685800">
                <a:tc>
                  <a:txBody>
                    <a:bodyPr/>
                    <a:lstStyle/>
                    <a:p>
                      <a:r>
                        <a:rPr sz="1000" b="0" i="0">
                          <a:solidFill>
                            <a:srgbClr val="0F172A"/>
                          </a:solidFill>
                          <a:latin typeface="Arial"/>
                        </a:rPr>
                        <a:t>Kondratyuk (2024)</a:t>
                      </a:r>
                    </a:p>
                  </a:txBody>
                  <a:tcPr>
                    <a:solidFill>
                      <a:srgbClr val="FFFFFF"/>
                    </a:solidFill>
                  </a:tcPr>
                </a:tc>
                <a:tc>
                  <a:txBody>
                    <a:bodyPr/>
                    <a:lstStyle/>
                    <a:p>
                      <a:r>
                        <a:rPr sz="1000" b="0" i="0">
                          <a:solidFill>
                            <a:srgbClr val="0F172A"/>
                          </a:solidFill>
                          <a:latin typeface="Arial"/>
                        </a:rPr>
                        <a:t>Multimodal AI</a:t>
                      </a:r>
                    </a:p>
                  </a:txBody>
                  <a:tcPr>
                    <a:solidFill>
                      <a:srgbClr val="FFFFFF"/>
                    </a:solidFill>
                  </a:tcPr>
                </a:tc>
                <a:tc>
                  <a:txBody>
                    <a:bodyPr/>
                    <a:lstStyle/>
                    <a:p>
                      <a:r>
                        <a:rPr sz="1000" b="0" i="0">
                          <a:solidFill>
                            <a:srgbClr val="0F172A"/>
                          </a:solidFill>
                          <a:latin typeface="Arial"/>
                        </a:rPr>
                        <a:t>VideoPoet zero-shot cross-modality generation</a:t>
                      </a:r>
                    </a:p>
                  </a:txBody>
                  <a:tcPr>
                    <a:solidFill>
                      <a:srgbClr val="FFFFFF"/>
                    </a:solidFill>
                  </a:tcPr>
                </a:tc>
                <a:tc>
                  <a:txBody>
                    <a:bodyPr/>
                    <a:lstStyle/>
                    <a:p>
                      <a:r>
                        <a:rPr sz="1000" b="0" i="0">
                          <a:solidFill>
                            <a:srgbClr val="0F172A"/>
                          </a:solidFill>
                          <a:latin typeface="Arial"/>
                        </a:rPr>
                        <a:t>Personalisation</a:t>
                      </a:r>
                    </a:p>
                  </a:txBody>
                  <a:tcPr>
                    <a:solidFill>
                      <a:srgbClr val="FFFFFF"/>
                    </a:solidFill>
                  </a:tcPr>
                </a:tc>
              </a:tr>
              <a:tr h="685800">
                <a:tc>
                  <a:txBody>
                    <a:bodyPr/>
                    <a:lstStyle/>
                    <a:p>
                      <a:r>
                        <a:rPr sz="1000" b="0" i="0">
                          <a:solidFill>
                            <a:srgbClr val="0F172A"/>
                          </a:solidFill>
                          <a:latin typeface="Arial"/>
                        </a:rPr>
                        <a:t>Le et al. (2023)</a:t>
                      </a:r>
                    </a:p>
                  </a:txBody>
                  <a:tcPr>
                    <a:solidFill>
                      <a:srgbClr val="F1F5F9"/>
                    </a:solidFill>
                  </a:tcPr>
                </a:tc>
                <a:tc>
                  <a:txBody>
                    <a:bodyPr/>
                    <a:lstStyle/>
                    <a:p>
                      <a:r>
                        <a:rPr sz="1000" b="0" i="0">
                          <a:solidFill>
                            <a:srgbClr val="0F172A"/>
                          </a:solidFill>
                          <a:latin typeface="Arial"/>
                        </a:rPr>
                        <a:t>Speech Generation</a:t>
                      </a:r>
                    </a:p>
                  </a:txBody>
                  <a:tcPr>
                    <a:solidFill>
                      <a:srgbClr val="F1F5F9"/>
                    </a:solidFill>
                  </a:tcPr>
                </a:tc>
                <a:tc>
                  <a:txBody>
                    <a:bodyPr/>
                    <a:lstStyle/>
                    <a:p>
                      <a:r>
                        <a:rPr sz="1000" b="0" i="0">
                          <a:solidFill>
                            <a:srgbClr val="0F172A"/>
                          </a:solidFill>
                          <a:latin typeface="Arial"/>
                        </a:rPr>
                        <a:t>Voicebox multilingual universal cloning</a:t>
                      </a:r>
                    </a:p>
                  </a:txBody>
                  <a:tcPr>
                    <a:solidFill>
                      <a:srgbClr val="F1F5F9"/>
                    </a:solidFill>
                  </a:tcPr>
                </a:tc>
                <a:tc>
                  <a:txBody>
                    <a:bodyPr/>
                    <a:lstStyle/>
                    <a:p>
                      <a:r>
                        <a:rPr sz="1000" b="0" i="0">
                          <a:solidFill>
                            <a:srgbClr val="0F172A"/>
                          </a:solidFill>
                          <a:latin typeface="Arial"/>
                        </a:rPr>
                        <a:t>Production Efficiency</a:t>
                      </a:r>
                    </a:p>
                  </a:txBody>
                  <a:tcPr>
                    <a:solidFill>
                      <a:srgbClr val="F1F5F9"/>
                    </a:solidFill>
                  </a:tcPr>
                </a:tc>
              </a:tr>
              <a:tr h="685800">
                <a:tc>
                  <a:txBody>
                    <a:bodyPr/>
                    <a:lstStyle/>
                    <a:p>
                      <a:r>
                        <a:rPr sz="1000" b="0" i="0">
                          <a:solidFill>
                            <a:srgbClr val="0F172A"/>
                          </a:solidFill>
                          <a:latin typeface="Arial"/>
                        </a:rPr>
                        <a:t>Barnett (2023)</a:t>
                      </a:r>
                    </a:p>
                  </a:txBody>
                  <a:tcPr>
                    <a:solidFill>
                      <a:srgbClr val="FFFFFF"/>
                    </a:solidFill>
                  </a:tcPr>
                </a:tc>
                <a:tc>
                  <a:txBody>
                    <a:bodyPr/>
                    <a:lstStyle/>
                    <a:p>
                      <a:r>
                        <a:rPr sz="1000" b="0" i="0">
                          <a:solidFill>
                            <a:srgbClr val="0F172A"/>
                          </a:solidFill>
                          <a:latin typeface="Arial"/>
                        </a:rPr>
                        <a:t>Audio Ethics</a:t>
                      </a:r>
                    </a:p>
                  </a:txBody>
                  <a:tcPr>
                    <a:solidFill>
                      <a:srgbClr val="FFFFFF"/>
                    </a:solidFill>
                  </a:tcPr>
                </a:tc>
                <a:tc>
                  <a:txBody>
                    <a:bodyPr/>
                    <a:lstStyle/>
                    <a:p>
                      <a:r>
                        <a:rPr sz="1000" b="0" i="0">
                          <a:solidFill>
                            <a:srgbClr val="0F172A"/>
                          </a:solidFill>
                          <a:latin typeface="Arial"/>
                        </a:rPr>
                        <a:t>Reviewed 884 papers; huge lack of risk research</a:t>
                      </a:r>
                    </a:p>
                  </a:txBody>
                  <a:tcPr>
                    <a:solidFill>
                      <a:srgbClr val="FFFFFF"/>
                    </a:solidFill>
                  </a:tcPr>
                </a:tc>
                <a:tc>
                  <a:txBody>
                    <a:bodyPr/>
                    <a:lstStyle/>
                    <a:p>
                      <a:r>
                        <a:rPr sz="1000" b="0" i="0">
                          <a:solidFill>
                            <a:srgbClr val="0F172A"/>
                          </a:solidFill>
                          <a:latin typeface="Arial"/>
                        </a:rPr>
                        <a:t>Ethics &amp; Risks</a:t>
                      </a:r>
                    </a:p>
                  </a:txBody>
                  <a:tcPr>
                    <a:solidFill>
                      <a:srgbClr val="FFFFFF"/>
                    </a:solidFill>
                  </a:tcPr>
                </a:tc>
              </a:tr>
              <a:tr h="685800">
                <a:tc>
                  <a:txBody>
                    <a:bodyPr/>
                    <a:lstStyle/>
                    <a:p>
                      <a:r>
                        <a:rPr sz="1000" b="0" i="0">
                          <a:solidFill>
                            <a:srgbClr val="0F172A"/>
                          </a:solidFill>
                          <a:latin typeface="Arial"/>
                        </a:rPr>
                        <a:t>Amankwah (2024)</a:t>
                      </a:r>
                    </a:p>
                  </a:txBody>
                  <a:tcPr>
                    <a:solidFill>
                      <a:srgbClr val="F1F5F9"/>
                    </a:solidFill>
                  </a:tcPr>
                </a:tc>
                <a:tc>
                  <a:txBody>
                    <a:bodyPr/>
                    <a:lstStyle/>
                    <a:p>
                      <a:r>
                        <a:rPr sz="1000" b="0" i="0">
                          <a:solidFill>
                            <a:srgbClr val="0F172A"/>
                          </a:solidFill>
                          <a:latin typeface="Arial"/>
                        </a:rPr>
                        <a:t>Creative Work</a:t>
                      </a:r>
                    </a:p>
                  </a:txBody>
                  <a:tcPr>
                    <a:solidFill>
                      <a:srgbClr val="F1F5F9"/>
                    </a:solidFill>
                  </a:tcPr>
                </a:tc>
                <a:tc>
                  <a:txBody>
                    <a:bodyPr/>
                    <a:lstStyle/>
                    <a:p>
                      <a:r>
                        <a:rPr sz="1000" b="0" i="0">
                          <a:solidFill>
                            <a:srgbClr val="0F172A"/>
                          </a:solidFill>
                          <a:latin typeface="Arial"/>
                        </a:rPr>
                        <a:t>AI disruption vs. productivity boosts</a:t>
                      </a:r>
                    </a:p>
                  </a:txBody>
                  <a:tcPr>
                    <a:solidFill>
                      <a:srgbClr val="F1F5F9"/>
                    </a:solidFill>
                  </a:tcPr>
                </a:tc>
                <a:tc>
                  <a:txBody>
                    <a:bodyPr/>
                    <a:lstStyle/>
                    <a:p>
                      <a:r>
                        <a:rPr sz="1000" b="0" i="0">
                          <a:solidFill>
                            <a:srgbClr val="0F172A"/>
                          </a:solidFill>
                          <a:latin typeface="Arial"/>
                        </a:rPr>
                        <a:t>Labour Impact</a:t>
                      </a:r>
                    </a:p>
                  </a:txBody>
                  <a:tcPr>
                    <a:solidFill>
                      <a:srgbClr val="F1F5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VideoPoet and Voicebox lead the push toward high-definition multimodal synthesis</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Chen hao LIU</a:t>
            </a:r>
          </a:p>
        </p:txBody>
      </p:sp>
      <p:sp>
        <p:nvSpPr>
          <p:cNvPr id="5" name="TextBox 4"/>
          <p:cNvSpPr txBox="1"/>
          <p:nvPr/>
        </p:nvSpPr>
        <p:spPr>
          <a:xfrm>
            <a:off x="685800" y="1645920"/>
            <a:ext cx="5120640" cy="4114800"/>
          </a:xfrm>
          <a:prstGeom prst="rect">
            <a:avLst/>
          </a:prstGeom>
          <a:noFill/>
        </p:spPr>
        <p:txBody>
          <a:bodyPr wrap="square" lIns="137160" rIns="137160" tIns="137160" bIns="137160">
            <a:normAutofit/>
          </a:bodyPr>
          <a:lstStyle/>
          <a:p>
            <a:pPr>
              <a:spcBef>
                <a:spcPts val="0"/>
              </a:spcBef>
              <a:spcAft>
                <a:spcPts val="1000"/>
              </a:spcAft>
            </a:pPr>
            <a:r>
              <a:rPr sz="1800" b="1">
                <a:solidFill>
                  <a:srgbClr val="EA580C"/>
                </a:solidFill>
                <a:latin typeface="Georgia"/>
              </a:rPr>
              <a:t>Video Quality &amp; Personalisation</a:t>
            </a:r>
          </a:p>
          <a:p>
            <a:pPr algn="l">
              <a:spcBef>
                <a:spcPts val="0"/>
              </a:spcBef>
              <a:spcAft>
                <a:spcPts val="800"/>
              </a:spcAft>
            </a:pPr>
            <a:r>
              <a:rPr sz="1200" b="0" i="0">
                <a:solidFill>
                  <a:srgbClr val="0F172A"/>
                </a:solidFill>
                <a:latin typeface="Arial"/>
              </a:rPr>
              <a:t>• Visual Fidelity Leap: Diffusion models (Imagen Video) and multimodal LLMs (VideoPoet) have dramatically improved semantic alignment and resolution.</a:t>
            </a:r>
          </a:p>
          <a:p>
            <a:pPr algn="l">
              <a:spcBef>
                <a:spcPts val="0"/>
              </a:spcBef>
              <a:spcAft>
                <a:spcPts val="400"/>
              </a:spcAft>
            </a:pPr>
            <a:r>
              <a:rPr sz="1200" b="1" i="0">
                <a:solidFill>
                  <a:srgbClr val="0F172A"/>
                </a:solidFill>
                <a:latin typeface="Arial"/>
              </a:rPr>
              <a:t>• Core Technical Gaps:</a:t>
            </a:r>
          </a:p>
          <a:p>
            <a:pPr algn="l">
              <a:spcBef>
                <a:spcPts val="0"/>
              </a:spcBef>
              <a:spcAft>
                <a:spcPts val="300"/>
              </a:spcAft>
            </a:pPr>
            <a:r>
              <a:rPr sz="1100" b="0" i="0">
                <a:solidFill>
                  <a:srgbClr val="64748B"/>
                </a:solidFill>
                <a:latin typeface="Arial"/>
              </a:rPr>
              <a:t>   - Temporal Inconsistencies: Characters/backgrounds morph across frames.</a:t>
            </a:r>
          </a:p>
          <a:p>
            <a:pPr algn="l">
              <a:spcBef>
                <a:spcPts val="0"/>
              </a:spcBef>
              <a:spcAft>
                <a:spcPts val="800"/>
              </a:spcAft>
            </a:pPr>
            <a:r>
              <a:rPr sz="1100" b="0" i="0">
                <a:solidFill>
                  <a:srgbClr val="64748B"/>
                </a:solidFill>
                <a:latin typeface="Arial"/>
              </a:rPr>
              <a:t>   - Physical Anomalies: Object interaction violates real-world physics.</a:t>
            </a:r>
          </a:p>
          <a:p>
            <a:pPr algn="l">
              <a:spcBef>
                <a:spcPts val="0"/>
              </a:spcBef>
              <a:spcAft>
                <a:spcPts val="400"/>
              </a:spcAft>
            </a:pPr>
            <a:r>
              <a:rPr sz="1200" b="0" i="0">
                <a:solidFill>
                  <a:srgbClr val="0F172A"/>
                </a:solidFill>
                <a:latin typeface="Arial"/>
              </a:rPr>
              <a:t>• Evaluation Gap: Traditional automated metrics fail to capture subjective user satisfaction, relevance, and cultural appropriateness.</a:t>
            </a:r>
          </a:p>
        </p:txBody>
      </p:sp>
      <p:sp>
        <p:nvSpPr>
          <p:cNvPr id="6" name="TextBox 5"/>
          <p:cNvSpPr txBox="1"/>
          <p:nvPr/>
        </p:nvSpPr>
        <p:spPr>
          <a:xfrm>
            <a:off x="6400800" y="1645920"/>
            <a:ext cx="5120640" cy="4114800"/>
          </a:xfrm>
          <a:prstGeom prst="rect">
            <a:avLst/>
          </a:prstGeom>
          <a:noFill/>
        </p:spPr>
        <p:txBody>
          <a:bodyPr wrap="square" lIns="137160" rIns="137160" tIns="137160" bIns="137160">
            <a:normAutofit/>
          </a:bodyPr>
          <a:lstStyle/>
          <a:p>
            <a:pPr>
              <a:spcBef>
                <a:spcPts val="0"/>
              </a:spcBef>
              <a:spcAft>
                <a:spcPts val="1000"/>
              </a:spcAft>
            </a:pPr>
            <a:r>
              <a:rPr sz="1800" b="1">
                <a:solidFill>
                  <a:srgbClr val="0F172A"/>
                </a:solidFill>
                <a:latin typeface="Georgia"/>
              </a:rPr>
              <a:t>Audio &amp; Speech Personalisation</a:t>
            </a:r>
          </a:p>
          <a:p>
            <a:pPr algn="l">
              <a:spcBef>
                <a:spcPts val="0"/>
              </a:spcBef>
              <a:spcAft>
                <a:spcPts val="800"/>
              </a:spcAft>
            </a:pPr>
            <a:r>
              <a:rPr sz="1200" b="0" i="0">
                <a:solidFill>
                  <a:srgbClr val="0F172A"/>
                </a:solidFill>
                <a:latin typeface="Arial"/>
              </a:rPr>
              <a:t>• Sound Synthesis Progress: MusicLM and MusicGen enable precise text-conditioned music generation. Voicebox achieves state-of-the-art multilingual speech synthesis.</a:t>
            </a:r>
          </a:p>
          <a:p>
            <a:pPr algn="l">
              <a:spcBef>
                <a:spcPts val="0"/>
              </a:spcBef>
              <a:spcAft>
                <a:spcPts val="400"/>
              </a:spcAft>
            </a:pPr>
            <a:r>
              <a:rPr sz="1200" b="1" i="0">
                <a:solidFill>
                  <a:srgbClr val="0F172A"/>
                </a:solidFill>
                <a:latin typeface="Arial"/>
              </a:rPr>
              <a:t>• Major Audio Limitations:</a:t>
            </a:r>
          </a:p>
          <a:p>
            <a:pPr algn="l">
              <a:spcBef>
                <a:spcPts val="0"/>
              </a:spcBef>
              <a:spcAft>
                <a:spcPts val="300"/>
              </a:spcAft>
            </a:pPr>
            <a:r>
              <a:rPr sz="1100" b="0" i="0">
                <a:solidFill>
                  <a:srgbClr val="64748B"/>
                </a:solidFill>
                <a:latin typeface="Arial"/>
              </a:rPr>
              <a:t>   - Fine-Grained Controllability: Directing specific vocal beats remains hard.</a:t>
            </a:r>
          </a:p>
          <a:p>
            <a:pPr algn="l">
              <a:spcBef>
                <a:spcPts val="0"/>
              </a:spcBef>
              <a:spcAft>
                <a:spcPts val="800"/>
              </a:spcAft>
            </a:pPr>
            <a:r>
              <a:rPr sz="1100" b="0" i="0">
                <a:solidFill>
                  <a:srgbClr val="64748B"/>
                </a:solidFill>
                <a:latin typeface="Arial"/>
              </a:rPr>
              <a:t>   - Emotional Depth: Cloned speech often lacks authentic human emotions.</a:t>
            </a:r>
          </a:p>
          <a:p>
            <a:pPr algn="l">
              <a:spcBef>
                <a:spcPts val="0"/>
              </a:spcBef>
              <a:spcAft>
                <a:spcPts val="400"/>
              </a:spcAft>
            </a:pPr>
            <a:r>
              <a:rPr sz="1200" b="0" i="0">
                <a:solidFill>
                  <a:srgbClr val="0F172A"/>
                </a:solidFill>
                <a:latin typeface="Arial"/>
              </a:rPr>
              <a:t>• Personalisation Need: Synthesized content must adapt directly to audience identity, preferences, and cultural background.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Generation speed does not equal true workflow efficiency due to human check bottleneck</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Chen hao LIU</a:t>
            </a:r>
          </a:p>
        </p:txBody>
      </p:sp>
      <p:sp>
        <p:nvSpPr>
          <p:cNvPr id="5" name="Rounded Rectangle 4"/>
          <p:cNvSpPr/>
          <p:nvPr/>
        </p:nvSpPr>
        <p:spPr>
          <a:xfrm>
            <a:off x="685800" y="1645920"/>
            <a:ext cx="10820095" cy="1554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400" b="1">
                <a:solidFill>
                  <a:srgbClr val="64748B"/>
                </a:solidFill>
                <a:latin typeface="Georgia"/>
              </a:rPr>
              <a:t>TRADITIONAL WORKFLOW (Linear &amp; Resource-Heavy)</a:t>
            </a:r>
          </a:p>
          <a:p>
            <a:pPr algn="l">
              <a:spcBef>
                <a:spcPts val="0"/>
              </a:spcBef>
              <a:spcAft>
                <a:spcPts val="400"/>
              </a:spcAft>
            </a:pPr>
            <a:r>
              <a:rPr sz="1200" b="1" i="0">
                <a:solidFill>
                  <a:srgbClr val="0F172A"/>
                </a:solidFill>
                <a:latin typeface="Arial"/>
              </a:rPr>
              <a:t>Planning &amp; Scripting  -&gt;  Studio Recording  -&gt;  Manual Video/Audio Editing  -&gt;  Post-Production  -&gt;  Approval</a:t>
            </a:r>
          </a:p>
          <a:p>
            <a:pPr algn="l">
              <a:spcBef>
                <a:spcPts val="0"/>
              </a:spcBef>
              <a:spcAft>
                <a:spcPts val="400"/>
              </a:spcAft>
            </a:pPr>
            <a:r>
              <a:rPr sz="1200" b="0" i="0">
                <a:solidFill>
                  <a:srgbClr val="0F172A"/>
                </a:solidFill>
                <a:latin typeface="Arial"/>
              </a:rPr>
              <a:t>• Constraints: Extremely high human labor, long lead times, expensive, and near-zero scaling potential.</a:t>
            </a:r>
          </a:p>
        </p:txBody>
      </p:sp>
      <p:sp>
        <p:nvSpPr>
          <p:cNvPr id="6" name="Rounded Rectangle 5"/>
          <p:cNvSpPr/>
          <p:nvPr/>
        </p:nvSpPr>
        <p:spPr>
          <a:xfrm>
            <a:off x="685800" y="3291840"/>
            <a:ext cx="10820095" cy="1554480"/>
          </a:xfrm>
          <a:prstGeom prst="roundRect">
            <a:avLst/>
          </a:prstGeom>
          <a:solidFill>
            <a:srgbClr val="FEF2F2"/>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400" b="1">
                <a:solidFill>
                  <a:srgbClr val="EA580C"/>
                </a:solidFill>
                <a:latin typeface="Georgia"/>
              </a:rPr>
              <a:t>GENAI-ASSISTED WORKFLOW (Instant Generation + Critical Human Oversight)</a:t>
            </a:r>
          </a:p>
          <a:p>
            <a:pPr algn="l">
              <a:spcBef>
                <a:spcPts val="0"/>
              </a:spcBef>
              <a:spcAft>
                <a:spcPts val="400"/>
              </a:spcAft>
            </a:pPr>
            <a:r>
              <a:rPr sz="1200" b="1" i="0">
                <a:solidFill>
                  <a:srgbClr val="0F172A"/>
                </a:solidFill>
                <a:latin typeface="Arial"/>
              </a:rPr>
              <a:t>Text Prompting  -&gt;  Instant AI Rendering  -&gt;  HUMAN REVIEW, FACT CHECK, COPYRIGHT &amp; ETHICAL APPROVAL  -&gt;  Launch</a:t>
            </a:r>
          </a:p>
          <a:p>
            <a:pPr algn="l">
              <a:spcBef>
                <a:spcPts val="0"/>
              </a:spcBef>
              <a:spcAft>
                <a:spcPts val="400"/>
              </a:spcAft>
            </a:pPr>
            <a:r>
              <a:rPr sz="1200" b="0" i="0">
                <a:solidFill>
                  <a:srgbClr val="0F172A"/>
                </a:solidFill>
                <a:latin typeface="Arial"/>
              </a:rPr>
              <a:t>• Leverage: Highly scalable multi-language generation. But the real bottleneck is human-in-the-loop compliance checks.</a:t>
            </a:r>
          </a:p>
        </p:txBody>
      </p:sp>
      <p:sp>
        <p:nvSpPr>
          <p:cNvPr id="7" name="TextBox 6"/>
          <p:cNvSpPr txBox="1"/>
          <p:nvPr/>
        </p:nvSpPr>
        <p:spPr>
          <a:xfrm>
            <a:off x="685800" y="5029200"/>
            <a:ext cx="10820095" cy="1188720"/>
          </a:xfrm>
          <a:prstGeom prst="rect">
            <a:avLst/>
          </a:prstGeom>
          <a:noFill/>
        </p:spPr>
        <p:txBody>
          <a:bodyPr wrap="square" lIns="137160" rIns="137160" tIns="137160" bIns="137160">
            <a:normAutofit/>
          </a:bodyPr>
          <a:lstStyle/>
          <a:p>
            <a:pPr>
              <a:spcBef>
                <a:spcPts val="0"/>
              </a:spcBef>
              <a:spcAft>
                <a:spcPts val="400"/>
              </a:spcAft>
            </a:pPr>
            <a:r>
              <a:rPr sz="1400" b="1">
                <a:solidFill>
                  <a:srgbClr val="0F172A"/>
                </a:solidFill>
                <a:latin typeface="Georgia"/>
              </a:rPr>
              <a:t>The True Efficiency Metric:</a:t>
            </a:r>
          </a:p>
          <a:p>
            <a:pPr algn="l">
              <a:spcBef>
                <a:spcPts val="0"/>
              </a:spcBef>
              <a:spcAft>
                <a:spcPts val="400"/>
              </a:spcAft>
            </a:pPr>
            <a:r>
              <a:rPr sz="1250" b="0" i="0">
                <a:solidFill>
                  <a:srgbClr val="0F172A"/>
                </a:solidFill>
                <a:latin typeface="Arial"/>
              </a:rPr>
              <a:t>Do not equate 'generation speed' with 'production efficiency'. Effective use must measure the entire workflow from the first prompt to the final compliant, ethically-approved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Severe ethical concerns persist around deepfakes, copyright ownership, and voice privacy</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Chen hao LIU</a:t>
            </a:r>
          </a:p>
        </p:txBody>
      </p:sp>
      <p:sp>
        <p:nvSpPr>
          <p:cNvPr id="5" name="Rounded Rectangle 4"/>
          <p:cNvSpPr/>
          <p:nvPr/>
        </p:nvSpPr>
        <p:spPr>
          <a:xfrm>
            <a:off x="685800" y="1645920"/>
            <a:ext cx="5120640" cy="1920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500" b="1">
                <a:solidFill>
                  <a:srgbClr val="EA580C"/>
                </a:solidFill>
                <a:latin typeface="Georgia"/>
              </a:rPr>
              <a:t>1. Authenticity &amp; Deepfakes</a:t>
            </a:r>
          </a:p>
          <a:p>
            <a:pPr algn="l">
              <a:spcBef>
                <a:spcPts val="0"/>
              </a:spcBef>
              <a:spcAft>
                <a:spcPts val="400"/>
              </a:spcAft>
            </a:pPr>
            <a:r>
              <a:rPr sz="1200" b="0" i="0">
                <a:solidFill>
                  <a:srgbClr val="0F172A"/>
                </a:solidFill>
                <a:latin typeface="Arial"/>
              </a:rPr>
              <a:t>Audiences cannot easily distinguish realistic synthetic media from truth, fueling massive fraud, political misinformation, and reputational damage.</a:t>
            </a:r>
          </a:p>
        </p:txBody>
      </p:sp>
      <p:sp>
        <p:nvSpPr>
          <p:cNvPr id="6" name="Rounded Rectangle 5"/>
          <p:cNvSpPr/>
          <p:nvPr/>
        </p:nvSpPr>
        <p:spPr>
          <a:xfrm>
            <a:off x="6355080" y="1645920"/>
            <a:ext cx="5120640" cy="1920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500" b="1">
                <a:solidFill>
                  <a:srgbClr val="EA580C"/>
                </a:solidFill>
                <a:latin typeface="Georgia"/>
              </a:rPr>
              <a:t>2. Copyright &amp; Intellectual Property</a:t>
            </a:r>
          </a:p>
          <a:p>
            <a:pPr algn="l">
              <a:spcBef>
                <a:spcPts val="0"/>
              </a:spcBef>
              <a:spcAft>
                <a:spcPts val="400"/>
              </a:spcAft>
            </a:pPr>
            <a:r>
              <a:rPr sz="1200" b="0" i="0">
                <a:solidFill>
                  <a:srgbClr val="0F172A"/>
                </a:solidFill>
                <a:latin typeface="Arial"/>
              </a:rPr>
              <a:t>GenAI training relies heavily on scraping existing creative works without credit or compensation, resulting in legal battles over authorship and fair use.</a:t>
            </a:r>
          </a:p>
        </p:txBody>
      </p:sp>
      <p:sp>
        <p:nvSpPr>
          <p:cNvPr id="7" name="Rounded Rectangle 6"/>
          <p:cNvSpPr/>
          <p:nvPr/>
        </p:nvSpPr>
        <p:spPr>
          <a:xfrm>
            <a:off x="685800" y="3840480"/>
            <a:ext cx="5120640" cy="1920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500" b="1">
                <a:solidFill>
                  <a:srgbClr val="EA580C"/>
                </a:solidFill>
                <a:latin typeface="Georgia"/>
              </a:rPr>
              <a:t>3. Privacy &amp; Consent</a:t>
            </a:r>
          </a:p>
          <a:p>
            <a:pPr algn="l">
              <a:spcBef>
                <a:spcPts val="0"/>
              </a:spcBef>
              <a:spcAft>
                <a:spcPts val="400"/>
              </a:spcAft>
            </a:pPr>
            <a:r>
              <a:rPr sz="1200" b="0" i="0">
                <a:solidFill>
                  <a:srgbClr val="0F172A"/>
                </a:solidFill>
                <a:latin typeface="Arial"/>
              </a:rPr>
              <a:t>Voice cloning allows unauthorized imitation of unique vocal identities, necessitating mandatory consent systems and biometric control structures.</a:t>
            </a:r>
          </a:p>
        </p:txBody>
      </p:sp>
      <p:sp>
        <p:nvSpPr>
          <p:cNvPr id="8" name="Rounded Rectangle 7"/>
          <p:cNvSpPr/>
          <p:nvPr/>
        </p:nvSpPr>
        <p:spPr>
          <a:xfrm>
            <a:off x="6355080" y="3840480"/>
            <a:ext cx="5120640" cy="1920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500" b="1">
                <a:solidFill>
                  <a:srgbClr val="EA580C"/>
                </a:solidFill>
                <a:latin typeface="Georgia"/>
              </a:rPr>
              <a:t>4. Stereotyping &amp; Social Bias</a:t>
            </a:r>
          </a:p>
          <a:p>
            <a:pPr algn="l">
              <a:spcBef>
                <a:spcPts val="0"/>
              </a:spcBef>
              <a:spcAft>
                <a:spcPts val="400"/>
              </a:spcAft>
            </a:pPr>
            <a:r>
              <a:rPr sz="1200" b="0" i="0">
                <a:solidFill>
                  <a:srgbClr val="0F172A"/>
                </a:solidFill>
                <a:latin typeface="Arial"/>
              </a:rPr>
              <a:t>Training datasets often perpetuate and amplify human prejudices, which then inadvertently get baked into personalized local content.</a:t>
            </a:r>
          </a:p>
        </p:txBody>
      </p:sp>
      <p:sp>
        <p:nvSpPr>
          <p:cNvPr id="9" name="TextBox 8"/>
          <p:cNvSpPr txBox="1"/>
          <p:nvPr/>
        </p:nvSpPr>
        <p:spPr>
          <a:xfrm>
            <a:off x="685800" y="5943600"/>
            <a:ext cx="10820095" cy="457200"/>
          </a:xfrm>
          <a:prstGeom prst="rect">
            <a:avLst/>
          </a:prstGeom>
          <a:noFill/>
        </p:spPr>
        <p:txBody>
          <a:bodyPr wrap="square" lIns="137160" rIns="137160" tIns="137160" bIns="137160">
            <a:normAutofit/>
          </a:bodyPr>
          <a:lstStyle/>
          <a:p>
            <a:pPr algn="l">
              <a:spcBef>
                <a:spcPts val="0"/>
              </a:spcBef>
              <a:spcAft>
                <a:spcPts val="400"/>
              </a:spcAft>
            </a:pPr>
            <a:r>
              <a:rPr sz="1100" b="0" i="1">
                <a:solidFill>
                  <a:srgbClr val="64748B"/>
                </a:solidFill>
                <a:latin typeface="Arial"/>
              </a:rPr>
              <a:t>Regulatory Outlook: Emerging frameworks like the EU AI Act (2024) enforce mandatory transparency, watermark labelling, and strict human oversight.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Critical Gap: Less than 10% of generative-audio research addresses negative ethical impacts</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Zeqiu LU</a:t>
            </a:r>
          </a:p>
        </p:txBody>
      </p:sp>
      <p:sp>
        <p:nvSpPr>
          <p:cNvPr id="5" name="TextBox 4"/>
          <p:cNvSpPr txBox="1"/>
          <p:nvPr/>
        </p:nvSpPr>
        <p:spPr>
          <a:xfrm>
            <a:off x="685800" y="2011680"/>
            <a:ext cx="4114800" cy="3657600"/>
          </a:xfrm>
          <a:prstGeom prst="rect">
            <a:avLst/>
          </a:prstGeom>
          <a:noFill/>
        </p:spPr>
        <p:txBody>
          <a:bodyPr wrap="square" lIns="137160" rIns="137160" tIns="137160" bIns="137160">
            <a:normAutofit/>
          </a:bodyPr>
          <a:lstStyle/>
          <a:p>
            <a:pPr>
              <a:spcBef>
                <a:spcPts val="0"/>
              </a:spcBef>
              <a:spcAft>
                <a:spcPts val="1000"/>
              </a:spcAft>
            </a:pPr>
            <a:r>
              <a:rPr sz="8000" b="1">
                <a:solidFill>
                  <a:srgbClr val="EA580C"/>
                </a:solidFill>
                <a:latin typeface="Georgia"/>
              </a:rPr>
              <a:t>&lt; 10%</a:t>
            </a:r>
          </a:p>
          <a:p>
            <a:pPr algn="l">
              <a:spcBef>
                <a:spcPts val="0"/>
              </a:spcBef>
              <a:spcAft>
                <a:spcPts val="400"/>
              </a:spcAft>
            </a:pPr>
            <a:r>
              <a:rPr sz="1300" b="1" i="0">
                <a:solidFill>
                  <a:srgbClr val="64748B"/>
                </a:solidFill>
                <a:latin typeface="Arial"/>
              </a:rPr>
              <a:t>OF GENERATIVE-AUDIO PAPERS COVERS NEGATIVE IMPACTS</a:t>
            </a:r>
          </a:p>
        </p:txBody>
      </p:sp>
      <p:sp>
        <p:nvSpPr>
          <p:cNvPr id="6" name="TextBox 5"/>
          <p:cNvSpPr txBox="1"/>
          <p:nvPr/>
        </p:nvSpPr>
        <p:spPr>
          <a:xfrm>
            <a:off x="5120640" y="1645920"/>
            <a:ext cx="6400800" cy="4389120"/>
          </a:xfrm>
          <a:prstGeom prst="rect">
            <a:avLst/>
          </a:prstGeom>
          <a:noFill/>
        </p:spPr>
        <p:txBody>
          <a:bodyPr wrap="square" lIns="137160" rIns="137160" tIns="137160" bIns="137160">
            <a:normAutofit/>
          </a:bodyPr>
          <a:lstStyle/>
          <a:p>
            <a:pPr>
              <a:spcBef>
                <a:spcPts val="0"/>
              </a:spcBef>
              <a:spcAft>
                <a:spcPts val="1000"/>
              </a:spcAft>
            </a:pPr>
            <a:r>
              <a:rPr sz="1800" b="1">
                <a:solidFill>
                  <a:srgbClr val="0F172A"/>
                </a:solidFill>
                <a:latin typeface="Georgia"/>
              </a:rPr>
              <a:t>Key Research Gaps Identified in Literature</a:t>
            </a:r>
          </a:p>
          <a:p>
            <a:pPr algn="l">
              <a:spcBef>
                <a:spcPts val="0"/>
              </a:spcBef>
              <a:spcAft>
                <a:spcPts val="800"/>
              </a:spcAft>
            </a:pPr>
            <a:r>
              <a:rPr sz="1250" b="0" i="0">
                <a:solidFill>
                  <a:srgbClr val="0F172A"/>
                </a:solidFill>
                <a:latin typeface="Arial"/>
              </a:rPr>
              <a:t>• Technology vs. Impact Imbalance: Barnett's (2023) systematic review of 884 audio papers revealed a massive development bias. Technical capability advances rapidly, while impact, governance, and mitigation studies are severely neglected.</a:t>
            </a:r>
          </a:p>
          <a:p>
            <a:pPr algn="l">
              <a:spcBef>
                <a:spcPts val="0"/>
              </a:spcBef>
              <a:spcAft>
                <a:spcPts val="800"/>
              </a:spcAft>
            </a:pPr>
            <a:r>
              <a:rPr sz="1250" b="0" i="0">
                <a:solidFill>
                  <a:srgbClr val="0F172A"/>
                </a:solidFill>
                <a:latin typeface="Arial"/>
              </a:rPr>
              <a:t>• Lack of Real-World Evaluation: Most model research is tested in sanitized laboratory environments. There is a deficit of empirical studies analyzing GenAI inside actual commercial workflows, audiences' psychological trust, or long-term effects on creative laborers.</a:t>
            </a:r>
          </a:p>
          <a:p>
            <a:pPr algn="l">
              <a:spcBef>
                <a:spcPts val="0"/>
              </a:spcBef>
              <a:spcAft>
                <a:spcPts val="400"/>
              </a:spcAft>
            </a:pPr>
            <a:r>
              <a:rPr sz="1250" b="0" i="0">
                <a:solidFill>
                  <a:srgbClr val="0F172A"/>
                </a:solidFill>
                <a:latin typeface="Arial"/>
              </a:rPr>
              <a:t>• Fragmented Governance: Current literature successfully lists risks but fails to evaluate practical, scalable tools like audio provenance, consent verification systems, and training data copyright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lIns="137160" rIns="137160" tIns="137160" bIns="137160">
            <a:normAutofit/>
          </a:bodyPr>
          <a:lstStyle/>
          <a:p>
            <a:r>
              <a:rPr sz="2400" b="1" i="0">
                <a:solidFill>
                  <a:srgbClr val="0F172A"/>
                </a:solidFill>
                <a:latin typeface="Georgia"/>
              </a:rPr>
              <a:t>Human-AI collaboration is the most sustainable path for effective creative work</a:t>
            </a:r>
          </a:p>
        </p:txBody>
      </p:sp>
      <p:sp>
        <p:nvSpPr>
          <p:cNvPr id="3" name="Rectangle 2"/>
          <p:cNvSpPr/>
          <p:nvPr/>
        </p:nvSpPr>
        <p:spPr>
          <a:xfrm>
            <a:off x="685800" y="1216660"/>
            <a:ext cx="10820095" cy="254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137160"/>
            <a:ext cx="2286000" cy="365760"/>
          </a:xfrm>
          <a:prstGeom prst="rect">
            <a:avLst/>
          </a:prstGeom>
          <a:noFill/>
        </p:spPr>
        <p:txBody>
          <a:bodyPr wrap="square">
            <a:spAutoFit/>
          </a:bodyPr>
          <a:lstStyle/>
          <a:p>
            <a:pPr algn="r"/>
            <a:r>
              <a:rPr sz="1100" b="1" i="0">
                <a:solidFill>
                  <a:srgbClr val="EA580C"/>
                </a:solidFill>
                <a:latin typeface="Arial"/>
              </a:rPr>
              <a:t>Presenter: Zeqiu LU</a:t>
            </a:r>
          </a:p>
        </p:txBody>
      </p:sp>
      <p:sp>
        <p:nvSpPr>
          <p:cNvPr id="5" name="Rounded Rectangle 4"/>
          <p:cNvSpPr/>
          <p:nvPr/>
        </p:nvSpPr>
        <p:spPr>
          <a:xfrm>
            <a:off x="685800" y="1645920"/>
            <a:ext cx="5120640" cy="2377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600" b="1">
                <a:solidFill>
                  <a:srgbClr val="EA580C"/>
                </a:solidFill>
                <a:latin typeface="Georgia"/>
              </a:rPr>
              <a:t>Generative AI Capabilities</a:t>
            </a:r>
          </a:p>
          <a:p>
            <a:pPr algn="l">
              <a:spcBef>
                <a:spcPts val="0"/>
              </a:spcBef>
              <a:spcAft>
                <a:spcPts val="300"/>
              </a:spcAft>
            </a:pPr>
            <a:r>
              <a:rPr sz="1200" b="0" i="0">
                <a:solidFill>
                  <a:srgbClr val="0F172A"/>
                </a:solidFill>
                <a:latin typeface="Arial"/>
              </a:rPr>
              <a:t>• Scale &amp; Speed: Rapid synthesis of multi-language and high-volume media.</a:t>
            </a:r>
          </a:p>
          <a:p>
            <a:pPr algn="l">
              <a:spcBef>
                <a:spcPts val="0"/>
              </a:spcBef>
              <a:spcAft>
                <a:spcPts val="300"/>
              </a:spcAft>
            </a:pPr>
            <a:r>
              <a:rPr sz="1200" b="0" i="0">
                <a:solidFill>
                  <a:srgbClr val="0F172A"/>
                </a:solidFill>
                <a:latin typeface="Arial"/>
              </a:rPr>
              <a:t>• Technical Accessibility: Lowering entry barriers for non-expert creators.</a:t>
            </a:r>
          </a:p>
          <a:p>
            <a:pPr algn="l">
              <a:spcBef>
                <a:spcPts val="0"/>
              </a:spcBef>
              <a:spcAft>
                <a:spcPts val="400"/>
              </a:spcAft>
            </a:pPr>
            <a:r>
              <a:rPr sz="1200" b="0" i="0">
                <a:solidFill>
                  <a:srgbClr val="0F172A"/>
                </a:solidFill>
                <a:latin typeface="Arial"/>
              </a:rPr>
              <a:t>• Cost-Efficiency: Drastic cuts in video rendering and recording overhead.</a:t>
            </a:r>
          </a:p>
        </p:txBody>
      </p:sp>
      <p:sp>
        <p:nvSpPr>
          <p:cNvPr id="6" name="Rounded Rectangle 5"/>
          <p:cNvSpPr/>
          <p:nvPr/>
        </p:nvSpPr>
        <p:spPr>
          <a:xfrm>
            <a:off x="6400800" y="1645920"/>
            <a:ext cx="5120640" cy="23774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600" b="1">
                <a:solidFill>
                  <a:srgbClr val="0F172A"/>
                </a:solidFill>
                <a:latin typeface="Georgia"/>
              </a:rPr>
              <a:t>Human Creative Oversight</a:t>
            </a:r>
          </a:p>
          <a:p>
            <a:pPr algn="l">
              <a:spcBef>
                <a:spcPts val="0"/>
              </a:spcBef>
              <a:spcAft>
                <a:spcPts val="300"/>
              </a:spcAft>
            </a:pPr>
            <a:r>
              <a:rPr sz="1200" b="0" i="0">
                <a:solidFill>
                  <a:srgbClr val="0F172A"/>
                </a:solidFill>
                <a:latin typeface="Arial"/>
              </a:rPr>
              <a:t>• Contextual Judgment: Adapting tone, cultural relevance, and authentic emotions.</a:t>
            </a:r>
          </a:p>
          <a:p>
            <a:pPr algn="l">
              <a:spcBef>
                <a:spcPts val="0"/>
              </a:spcBef>
              <a:spcAft>
                <a:spcPts val="300"/>
              </a:spcAft>
            </a:pPr>
            <a:r>
              <a:rPr sz="1200" b="0" i="0">
                <a:solidFill>
                  <a:srgbClr val="0F172A"/>
                </a:solidFill>
                <a:latin typeface="Arial"/>
              </a:rPr>
              <a:t>• Quality &amp; Brand Control: Ensuring temporal consistency and physical realism.</a:t>
            </a:r>
          </a:p>
          <a:p>
            <a:pPr algn="l">
              <a:spcBef>
                <a:spcPts val="0"/>
              </a:spcBef>
              <a:spcAft>
                <a:spcPts val="400"/>
              </a:spcAft>
            </a:pPr>
            <a:r>
              <a:rPr sz="1200" b="0" i="0">
                <a:solidFill>
                  <a:srgbClr val="0F172A"/>
                </a:solidFill>
                <a:latin typeface="Arial"/>
              </a:rPr>
              <a:t>• Ethical &amp; Legal Governance: Fact-checking, copyright clearance, and consent.</a:t>
            </a:r>
          </a:p>
        </p:txBody>
      </p:sp>
      <p:sp>
        <p:nvSpPr>
          <p:cNvPr id="7" name="Rectangle 6"/>
          <p:cNvSpPr/>
          <p:nvPr/>
        </p:nvSpPr>
        <p:spPr>
          <a:xfrm>
            <a:off x="685800" y="4297680"/>
            <a:ext cx="10820095" cy="1737360"/>
          </a:xfrm>
          <a:prstGeom prst="rect">
            <a:avLst/>
          </a:prstGeom>
          <a:solidFill>
            <a:srgbClr val="FEF2F2"/>
          </a:solidFill>
          <a:ln>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normAutofit/>
          </a:bodyPr>
          <a:lstStyle/>
          <a:p>
            <a:pPr algn="ctr">
              <a:spcBef>
                <a:spcPts val="0"/>
              </a:spcBef>
              <a:spcAft>
                <a:spcPts val="600"/>
              </a:spcAft>
            </a:pPr>
            <a:r>
              <a:rPr sz="1500" b="1">
                <a:solidFill>
                  <a:srgbClr val="EA580C"/>
                </a:solidFill>
                <a:latin typeface="Georgia"/>
              </a:rPr>
              <a:t>Core Synthesis: The Balanced Human-AI Collaboration Model</a:t>
            </a:r>
          </a:p>
          <a:p>
            <a:pPr algn="l">
              <a:spcBef>
                <a:spcPts val="0"/>
              </a:spcBef>
              <a:spcAft>
                <a:spcPts val="400"/>
              </a:spcAft>
            </a:pPr>
            <a:r>
              <a:rPr sz="1200" b="1" i="0">
                <a:solidFill>
                  <a:srgbClr val="0F172A"/>
                </a:solidFill>
                <a:latin typeface="Arial"/>
              </a:rPr>
              <a:t>Our review argues that the optimal model is not full automation, but a deeply integrated human-AI partnership.</a:t>
            </a:r>
          </a:p>
          <a:p>
            <a:pPr algn="l">
              <a:spcBef>
                <a:spcPts val="0"/>
              </a:spcBef>
              <a:spcAft>
                <a:spcPts val="200"/>
              </a:spcAft>
            </a:pPr>
            <a:r>
              <a:rPr sz="1150" b="0" i="0">
                <a:solidFill>
                  <a:srgbClr val="0F172A"/>
                </a:solidFill>
                <a:latin typeface="Arial"/>
              </a:rPr>
              <a:t>• Production: AI acts as a raw generator to produce assets at high speed and scale.</a:t>
            </a:r>
          </a:p>
          <a:p>
            <a:pPr algn="l">
              <a:spcBef>
                <a:spcPts val="0"/>
              </a:spcBef>
              <a:spcAft>
                <a:spcPts val="200"/>
              </a:spcAft>
            </a:pPr>
            <a:r>
              <a:rPr sz="1150" b="0" i="0">
                <a:solidFill>
                  <a:srgbClr val="0F172A"/>
                </a:solidFill>
                <a:latin typeface="Arial"/>
              </a:rPr>
              <a:t>• Direction: Humans act as creative directors, quality gatekeepers, and ethical judges to ensure reliability.</a:t>
            </a:r>
          </a:p>
          <a:p>
            <a:pPr algn="l">
              <a:spcBef>
                <a:spcPts val="0"/>
              </a:spcBef>
              <a:spcAft>
                <a:spcPts val="400"/>
              </a:spcAft>
            </a:pPr>
            <a:r>
              <a:rPr sz="1150" b="0" i="0">
                <a:solidFill>
                  <a:srgbClr val="0F172A"/>
                </a:solidFill>
                <a:latin typeface="Arial"/>
              </a:rPr>
              <a:t>• Future Focus: Development of comprehensive evaluation frameworks combining technical metrics and human judgment.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